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398635603a4d6e" /><Relationship Type="http://schemas.openxmlformats.org/officeDocument/2006/relationships/extended-properties" Target="/docProps/app.xml" Id="R7759d365f37e4f28" /><Relationship Type="http://schemas.openxmlformats.org/officeDocument/2006/relationships/officeDocument" Target="/ppt/presentation.xml" Id="Re412cf2c9bad46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056022f1014cde"/>
  </p:sldMasterIdLst>
  <p:notesMasterIdLst>
    <p:notesMasterId xmlns:r="http://schemas.openxmlformats.org/officeDocument/2006/relationships" r:id="Rf2c25de72bd44951"/>
  </p:notesMasterIdLst>
  <p:sldIdLst>
    <p:sldId xmlns:r="http://schemas.openxmlformats.org/officeDocument/2006/relationships" id="256" r:id="R9cb15bbef98846b6"/>
    <p:sldId xmlns:r="http://schemas.openxmlformats.org/officeDocument/2006/relationships" id="257" r:id="R558e7cbc1cab4d15"/>
    <p:sldId xmlns:r="http://schemas.openxmlformats.org/officeDocument/2006/relationships" id="258" r:id="Rd464845a388a4c5e"/>
    <p:sldId xmlns:r="http://schemas.openxmlformats.org/officeDocument/2006/relationships" id="259" r:id="R048e142d25ef42af"/>
    <p:sldId xmlns:r="http://schemas.openxmlformats.org/officeDocument/2006/relationships" id="260" r:id="Rcf1887a9373942c9"/>
    <p:sldId xmlns:r="http://schemas.openxmlformats.org/officeDocument/2006/relationships" id="261" r:id="Rb1aac12e730b4577"/>
    <p:sldId xmlns:r="http://schemas.openxmlformats.org/officeDocument/2006/relationships" id="262" r:id="R13fec95b5be54567"/>
    <p:sldId xmlns:r="http://schemas.openxmlformats.org/officeDocument/2006/relationships" id="263" r:id="R1e39d4e0467442c6"/>
    <p:sldId xmlns:r="http://schemas.openxmlformats.org/officeDocument/2006/relationships" id="264" r:id="Rcd3d096034754017"/>
    <p:sldId xmlns:r="http://schemas.openxmlformats.org/officeDocument/2006/relationships" id="265" r:id="R13d89a28b410410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056022f1014cde" /><Relationship Type="http://schemas.openxmlformats.org/officeDocument/2006/relationships/theme" Target="/ppt/theme/theme1.xml" Id="R2e3767ff94af456d" /><Relationship Type="http://schemas.openxmlformats.org/officeDocument/2006/relationships/notesMaster" Target="/ppt/notesMasters/notesMaster1.xml" Id="Rf2c25de72bd44951" /><Relationship Type="http://schemas.openxmlformats.org/officeDocument/2006/relationships/presProps" Target="/ppt/presProps.xml" Id="R3de0e6a53af0420c" /><Relationship Type="http://schemas.openxmlformats.org/officeDocument/2006/relationships/viewProps" Target="/ppt/viewProps.xml" Id="R4c8ba7e7216341c2" /><Relationship Type="http://schemas.openxmlformats.org/officeDocument/2006/relationships/tableStyles" Target="/ppt/tableStyles.xml" Id="R781538de15094e81" /><Relationship Type="http://schemas.openxmlformats.org/officeDocument/2006/relationships/slide" Target="/ppt/slides/slide1.xml" Id="R9cb15bbef98846b6" /><Relationship Type="http://schemas.openxmlformats.org/officeDocument/2006/relationships/slide" Target="/ppt/slides/slide2.xml" Id="R558e7cbc1cab4d15" /><Relationship Type="http://schemas.openxmlformats.org/officeDocument/2006/relationships/slide" Target="/ppt/slides/slide3.xml" Id="Rd464845a388a4c5e" /><Relationship Type="http://schemas.openxmlformats.org/officeDocument/2006/relationships/slide" Target="/ppt/slides/slide4.xml" Id="R048e142d25ef42af" /><Relationship Type="http://schemas.openxmlformats.org/officeDocument/2006/relationships/slide" Target="/ppt/slides/slide5.xml" Id="Rcf1887a9373942c9" /><Relationship Type="http://schemas.openxmlformats.org/officeDocument/2006/relationships/slide" Target="/ppt/slides/slide6.xml" Id="Rb1aac12e730b4577" /><Relationship Type="http://schemas.openxmlformats.org/officeDocument/2006/relationships/slide" Target="/ppt/slides/slide7.xml" Id="R13fec95b5be54567" /><Relationship Type="http://schemas.openxmlformats.org/officeDocument/2006/relationships/slide" Target="/ppt/slides/slide8.xml" Id="R1e39d4e0467442c6" /><Relationship Type="http://schemas.openxmlformats.org/officeDocument/2006/relationships/slide" Target="/ppt/slides/slide9.xml" Id="Rcd3d096034754017" /><Relationship Type="http://schemas.openxmlformats.org/officeDocument/2006/relationships/slide" Target="/ppt/slides/slide10.xml" Id="R13d89a28b41041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51b2ff248b84f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d32398ad6f4c6e" /><Relationship Type="http://schemas.openxmlformats.org/officeDocument/2006/relationships/notesMaster" Target="/ppt/notesMasters/notesMaster1.xml" Id="R508ef46903c24e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c37284999b40f5" /><Relationship Type="http://schemas.openxmlformats.org/officeDocument/2006/relationships/notesMaster" Target="/ppt/notesMasters/notesMaster1.xml" Id="R600de6cc982b40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8c47e6809d4416" /><Relationship Type="http://schemas.openxmlformats.org/officeDocument/2006/relationships/notesMaster" Target="/ppt/notesMasters/notesMaster1.xml" Id="R377f7684381945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57b7734dbef4abd" /><Relationship Type="http://schemas.openxmlformats.org/officeDocument/2006/relationships/notesMaster" Target="/ppt/notesMasters/notesMaster1.xml" Id="R3931e259c127475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51c4a7f88a496b" /><Relationship Type="http://schemas.openxmlformats.org/officeDocument/2006/relationships/notesMaster" Target="/ppt/notesMasters/notesMaster1.xml" Id="R2b021cd8eb204a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bfe2c4e12345d0" /><Relationship Type="http://schemas.openxmlformats.org/officeDocument/2006/relationships/notesMaster" Target="/ppt/notesMasters/notesMaster1.xml" Id="R426febee39af486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a04cef0cfe4339" /><Relationship Type="http://schemas.openxmlformats.org/officeDocument/2006/relationships/notesMaster" Target="/ppt/notesMasters/notesMaster1.xml" Id="R85114d4fee9f4da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ab75a57ed748ed" /><Relationship Type="http://schemas.openxmlformats.org/officeDocument/2006/relationships/notesMaster" Target="/ppt/notesMasters/notesMaster1.xml" Id="R85578910806349b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be50413128a4305" /><Relationship Type="http://schemas.openxmlformats.org/officeDocument/2006/relationships/notesMaster" Target="/ppt/notesMasters/notesMaster1.xml" Id="R1635b1741a44468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8c964e77d2d44b0" /><Relationship Type="http://schemas.openxmlformats.org/officeDocument/2006/relationships/notesMaster" Target="/ppt/notesMasters/notesMaster1.xml" Id="Rb8e36c7a974e42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트레이딩 프로젝트가 아니라 운영 가능한 이상 탐지 시스템을 만들었다는 점을 첫 슬라이드에서 강조한다.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notebooks and outputs under /Users/chankyulee/Desktop/ModuLABS/05_TimeSeries/Projects/FTS_Projects</a:t>
            </a:r>
          </a:p>
          <a:p xmlns:a="http://schemas.openxmlformats.org/drawingml/2006/main">
            <a:r>
              <a:t>- 05_monitoring_story_and_dashboard.ipynb and outputs/05_monitoring_story_and_dashboard/*.csv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취업용 프로젝트이기 때문에 수익률보다 모니터링과 운영 규칙 설계를 선택한 배경을 설명한다.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notebooks and outputs under /Users/chankyulee/Desktop/ModuLABS/05_TimeSeries/Projects/FTS_Projects</a:t>
            </a:r>
          </a:p>
          <a:p xmlns:a="http://schemas.openxmlformats.org/drawingml/2006/main">
            <a:r>
              <a:t>- 05_monitoring_story_and_dashboard.ipynb and outputs/05_monitoring_story_and_dashboard/*.csv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프로젝트가 성능 이전에 데이터 감사부터 시작되었다는 점을 보여준다. gap과 저유동성 이슈는 운영형 모델링의 전제 조건이다.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- 01_data_audit.ipynb and outputs/01_data_audit/*.csv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단순히 feature를 많이 쓰는 것이 아니라, drift와 중복을 먼저 파악해 이후 rule tuning을 위한 기반을 만들었다고 설명한다.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- 02_eda_feature_review.ipynb and outputs/02_eda_feature_review/*.csv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모델 복잡도보다 baseline 비교를 먼저 한 이유는 운영 trade-off를 빠르게 이해하기 위해서라고 설명한다.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- 03_baseline_modeling.ipynb and outputs/03_baseline_modeling/*.csv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good model 하나를 고른 것이 아니라, validation에서 운영 목적별 규칙을 분리한 과정이 핵심이라고 설명한다.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- 04_threshold_tuning_and_rules.ipynb and outputs/04_threshold_tuning_and_rules/*.csv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balanced는 기본 운영안, conservative는 저경보 운영안으로 제안 가능하다는 메시지를 함께 전달한다.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- 04_threshold_tuning_and_rules.ipynb and outputs/04_threshold_tuning_and_rules/*.csv</a:t>
            </a:r>
          </a:p>
          <a:p xmlns:a="http://schemas.openxmlformats.org/drawingml/2006/main">
            <a:r>
              <a:t>- 05_monitoring_story_and_dashboard.ipynb and outputs/05_monitoring_story_and_dashboard/*.csv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운영에서는 point score보다 하루 경보량과 missed day가 더 직관적이라는 점을 설명한다.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- 05_monitoring_story_and_dashboard.ipynb and outputs/05_monitoring_story_and_dashboard/*.csv</a:t>
            </a:r>
          </a:p>
          <a:p xmlns:a="http://schemas.openxmlformats.org/drawingml/2006/main">
            <a:r>
              <a:t>- 04_threshold_tuning_and_rules.ipynb and outputs/04_threshold_tuning_and_rules/*.csv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면접에서는 모델 이름보다 anomaly monitoring, false alarm control, operations-ready rule design을 강조한다.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- 05_monitoring_story_and_dashboard.ipynb and outputs/05_monitoring_story_and_dashboard/*.csv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마지막 슬라이드에서는 분석 능력뿐 아니라 운영 규칙 설계와 도메인 번역 능력을 함께 보여준다고 정리한다.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notebooks and outputs under /Users/chankyulee/Desktop/ModuLABS/05_TimeSeries/Projects/FTS_Projects</a:t>
            </a:r>
          </a:p>
          <a:p xmlns:a="http://schemas.openxmlformats.org/drawingml/2006/main">
            <a:r>
              <a:t>- 05_monitoring_story_and_dashboard.ipynb and outputs/05_monitoring_story_and_dashboard/*.csv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91fe7990894ab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9A663F3E-3A79-4B5D-BC29-C4DA6CC07505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180C716E-92A6-4EE3-B86F-C83E814DC0EF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CF552EA-1F37-460C-B24D-D30BD596B084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29955F5-0CA7-4AE0-AAAE-F15B22C5280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7B97578-3138-47DD-8761-C05F71E915D3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41966ed8bf24bf4" /><Relationship Type="http://schemas.openxmlformats.org/officeDocument/2006/relationships/slideLayout" Target="/ppt/slideLayouts/slideLayout2.xml" Id="R2a2b43288e1242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0D1D179-1196-45D3-873D-14D784966165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2b43288e1242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4006b605874c43" /><Relationship Type="http://schemas.openxmlformats.org/officeDocument/2006/relationships/image" Target="/ppt/media/image.png" Id="R62b77b5112d64fa7" /><Relationship Type="http://schemas.openxmlformats.org/officeDocument/2006/relationships/notesSlide" Target="/ppt/notesSlides/notesSlide1.xml" Id="Rc94a2a0472764ff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3317fc892b452e" /><Relationship Type="http://schemas.openxmlformats.org/officeDocument/2006/relationships/image" Target="/ppt/media/image2.png" Id="R4e8798373baf4abf" /><Relationship Type="http://schemas.openxmlformats.org/officeDocument/2006/relationships/notesSlide" Target="/ppt/notesSlides/notesSlide2.xml" Id="Re6fce61aef6042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130b3d9cb649b2" /><Relationship Type="http://schemas.openxmlformats.org/officeDocument/2006/relationships/image" Target="/ppt/media/image3.png" Id="R33ca64bf99df415e" /><Relationship Type="http://schemas.openxmlformats.org/officeDocument/2006/relationships/notesSlide" Target="/ppt/notesSlides/notesSlide3.xml" Id="Rf7b89db9f6cb4a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d36973041d405b" /><Relationship Type="http://schemas.openxmlformats.org/officeDocument/2006/relationships/image" Target="/ppt/media/image4.png" Id="R7c3ef4dc303a4d85" /><Relationship Type="http://schemas.openxmlformats.org/officeDocument/2006/relationships/notesSlide" Target="/ppt/notesSlides/notesSlide4.xml" Id="Rf7f8df9b92c14b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cbcba4893442ef" /><Relationship Type="http://schemas.openxmlformats.org/officeDocument/2006/relationships/image" Target="/ppt/media/image5.png" Id="R92bf6fdd58574b26" /><Relationship Type="http://schemas.openxmlformats.org/officeDocument/2006/relationships/notesSlide" Target="/ppt/notesSlides/notesSlide5.xml" Id="Rbe5864f95d2946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ba87146b5b4cf1" /><Relationship Type="http://schemas.openxmlformats.org/officeDocument/2006/relationships/image" Target="/ppt/media/image6.png" Id="R6300a00141554921" /><Relationship Type="http://schemas.openxmlformats.org/officeDocument/2006/relationships/notesSlide" Target="/ppt/notesSlides/notesSlide6.xml" Id="R65e566e7eb5b4e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1fcc3b788f4769" /><Relationship Type="http://schemas.openxmlformats.org/officeDocument/2006/relationships/image" Target="/ppt/media/image7.png" Id="R9f83a06570074496" /><Relationship Type="http://schemas.openxmlformats.org/officeDocument/2006/relationships/notesSlide" Target="/ppt/notesSlides/notesSlide7.xml" Id="R18dc057c0e9e4ad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bda2dbff50453d" /><Relationship Type="http://schemas.openxmlformats.org/officeDocument/2006/relationships/image" Target="/ppt/media/image8.png" Id="R7f3dba6011c14ab6" /><Relationship Type="http://schemas.openxmlformats.org/officeDocument/2006/relationships/notesSlide" Target="/ppt/notesSlides/notesSlide8.xml" Id="R988b63ae36a1423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1c9b719019474e" /><Relationship Type="http://schemas.openxmlformats.org/officeDocument/2006/relationships/image" Target="/ppt/media/image9.png" Id="Ra3bd285845ee42bf" /><Relationship Type="http://schemas.openxmlformats.org/officeDocument/2006/relationships/notesSlide" Target="/ppt/notesSlides/notesSlide9.xml" Id="R6bc24d9b9503495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a5319d11d44436" /><Relationship Type="http://schemas.openxmlformats.org/officeDocument/2006/relationships/image" Target="/ppt/media/image10.png" Id="R915ad542a0a34480" /><Relationship Type="http://schemas.openxmlformats.org/officeDocument/2006/relationships/notesSlide" Target="/ppt/notesSlides/notesSlide10.xml" Id="Rf2af9f4b803844d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7B97578-3138-47DD-8761-C05F71E915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b77b5112d64fa7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2B5109-1EAF-4BB3-95D3-CB80CE28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BB8EC2-64E9-4C2B-8D05-AC56CB1A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B056E1-155A-494C-9C32-64DAEC7D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38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ANOMALY MONITORING PORTFOLIO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D40E0A-3636-4D7B-BA70-0B64DF28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74771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214"/>
                </a:solidFill>
              </a:defRPr>
            </a:pPr>
            <a:r>
              <a:rPr sz="3600" b="1">
                <a:solidFill>
                  <a:srgbClr val="101214"/>
                </a:solidFill>
              </a:rPr>
              <a:t>이더리움 1분봉 기반</a:t>
            </a:r>
          </a:p>
          <a:p xmlns:a="http://schemas.openxmlformats.org/drawingml/2006/main">
            <a:pPr algn="l">
              <a:defRPr sz="3600" b="1">
                <a:solidFill>
                  <a:srgbClr val="101214"/>
                </a:solidFill>
              </a:defRPr>
            </a:pPr>
            <a:r>
              <a:rPr sz="3600" b="1">
                <a:solidFill>
                  <a:srgbClr val="101214"/>
                </a:solidFill>
              </a:rPr>
              <a:t>이상 상태 조기경보 시스템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49C8B0-3FEF-473A-96AF-1CC7E5C8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581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0363A"/>
                </a:solidFill>
              </a:defRPr>
            </a:pPr>
            <a:r>
              <a:rPr sz="1500" b="0">
                <a:solidFill>
                  <a:srgbClr val="30363A"/>
                </a:solidFill>
              </a:rPr>
              <a:t>고빈도 시계열 데이터를 반도체 공정 모니터링 문제로 재해석해 이상 탐지와 오경보 제어 규칙을 설계했습니다.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58F4DD-95AB-4241-8449-71E6EBAA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3714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2531E2-FDCC-4FD0-915D-E0728139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214"/>
                </a:solidFill>
              </a:defRPr>
            </a:pPr>
            <a:r>
              <a:rPr sz="1725" b="1">
                <a:solidFill>
                  <a:srgbClr val="101214"/>
                </a:solidFill>
              </a:rPr>
              <a:t>탐지 성능과 오경보 부담의 균형 설계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B9F5AF-5CDD-4F8E-A0F5-FDF889CE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11402876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7B97578-3138-47DD-8761-C05F71E915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8798373baf4abf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68FCF4-99F9-4CCE-9D38-B8E0D122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61C748-166F-4A7A-91DC-DE98AE27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PROJECT FRAMING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BC2F3A-B53D-47D7-A92F-D9B271D5E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02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C1BB3E-A0F9-484E-AC39-287888DC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2E3C9B-C9CA-493E-9297-8748B6F2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9F8614-4813-4B33-854D-2DDC0EA17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왜 트레이딩이 아니라 모니터링 문제로 풀었나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B0F952-5383-49F3-B751-01660014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수익률 예측보다 이상 상태 탐지와 운영 가능성을 보여주는 것이 목표였습니다.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E1A4AB-9B5F-48F4-8F30-9CC52D96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1F8C16-E9E8-4873-818A-889C325C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61037B-8948-4165-89C3-C77C1AF1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1B0E46-6A05-4989-8AEC-32022B37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624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AC5179-50E8-48B4-BA71-FF866EB5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4862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B74890-E6C2-4124-A05F-6DF84439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96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02E77F-42B3-4CAC-ADC3-B1B4B475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직무 적합성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9B409E-9AB1-41FE-BB9F-16F8DEA8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반도체 데이터 직무는 이상 감지, 변동성 모니터링,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오경보 감소 역량을 더 직접적으로 요구합니다.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F9520D-7EE8-405B-BC00-5100355A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429726-8EAF-41EA-80CC-377A8097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9B8924-66F5-42FB-AE08-4571AAB7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B3D6B5-31B4-46AE-A6C8-68011A4A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2555BB-385E-419F-84EC-0095E935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543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AF3043-2614-4D6A-9FC1-6EC99AA1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5243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F95943-EDEE-47EB-9CF8-57E83F92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문제 재정의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00A2BB-DAA7-40AD-8839-08FB2384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가격 급등락은 공정 excursion, 거래량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burst는 센서 신호 급증으로 해석했습니다.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A47532-7975-4B19-A280-0E2FF6AC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12735F-704C-4AE3-B5DF-5B2B905A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16958C-BA0E-4016-9947-8D0D3853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C6CAF3-A03E-43A6-92ED-DACF83BD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4291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2BF3D9-CECF-4920-86B2-8DAC84A3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5148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BB399C-B4D8-40B8-A1C1-ABC0FECB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6005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6F5540-CD8D-4E92-835F-1E32B8A7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핵심 질문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0514AB-25BA-4F27-ADE8-BE98AFB7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이상 상태를 더 빨리 잡으면서도 현업이 감당 가능한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경보량으로 줄일 수 있는가를 검증했습니다.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24A58A-993A-4BA2-B6B0-E66EF19E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1854651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7B97578-3138-47DD-8761-C05F71E915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ca64bf99df415e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D8C066-BABB-4363-AD90-0BCE49A1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1CCB62-1B39-47B1-A5EE-777F4B7D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DATA AUDIT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CB41D1-BF82-4329-A083-E49075AB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03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7F3BFF-8170-4139-85A8-D71E3605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3BCD4C-9216-4CFC-B1DC-B6404043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1818EB-3F11-442B-9CD8-CFE4CFEE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원본 데이터 품질과 리스크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2885C2-1B08-46EB-A5BA-D815E8836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연속 1분봉으로 가정할 수 없는 구간을 먼저 분리해 모델링 전에 데이터 품질 문제를 해결했습니다.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77B190-CED8-425A-A298-936C6477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AC69DC-3D50-48C7-BF14-B95A7A0A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6F8FF7-B400-41BC-9258-D8DCB616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1,000,000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B9D302-A597-47F9-A07E-B199F02D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원본 행 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E9A34C-484D-44CA-BE1A-F88E8795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2017-09-25 ~ 2019-11-03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A26368-6BBF-4434-AFD9-839477D0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989188-8919-4CB2-9BEB-08197553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544D37-3013-4702-9220-D266541E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9.73%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774D61-2660-4D3B-A05C-B43FABAAD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누락 분 비율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F1B9D7-92B9-4CE0-B29B-A918B2DE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전체 1분 시간축 기준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05A725-2D35-4525-8C72-4E278779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69ADC3-3047-4A5B-8801-238C1BA8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B0DDDF-8982-427D-A3BE-83DEB0FE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4,924분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95B3BC-FBA7-42EF-947F-E6DA0CE76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최대 gap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6506CE-FA5A-4278-965D-EE69545AD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긴 공백 전후 구간 별도 주의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731D26-510E-4E57-BBF0-93E2FA1E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17612862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7B97578-3138-47DD-8761-C05F71E915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3ef4dc303a4d85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3777B3-BB8E-4D77-8001-72D2FC94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FB172E-9108-4DF3-8CC5-DB37C2FE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FEATURE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EBF699-3CE7-4971-A67D-9D585E82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04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F2945E-F3D8-4DEA-89D2-985EC420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4BBCDA-081A-494B-87A7-E69F044B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DB0B8E-C8FE-4F4B-BC15-7ADCBE25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EDA에서 확인한 특징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32D9AC-5A2B-4217-87B8-5CCA3023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feature drift, redundancy, separability를 확인해 실제로 쓸 만한 feature와 주의할 feature를 구분했습니다.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1152BE-432A-4390-87E3-DDD2A5B7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B38377-E339-47E8-9CD9-F0D58BC1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B23B14-5344-452E-BCA5-72EE8146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1038F3-A3EB-4E0E-828A-28A5BC27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624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8D973D-BDC7-4FFC-B205-0E5FD6E5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4862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8F00CD-AD0A-4909-92CE-F40F9429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96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64838A-20C7-4980-8B32-820AF71E7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drift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5CD493-C857-43C7-90AE-E25B1F52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가격 레벨 feature는 월별 drift가 컸고,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변동성 feature도 레짐 변화에 민감했습니다.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3D24F9-1614-4A8C-8B3E-572EFEF5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AA1C92-B91C-49B7-B17C-45A15B0F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8A85EF-6BC2-49AB-BF62-5FD36EEB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B39585-888C-42C9-92B9-B15364CE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74C640-C679-42F1-8B02-7C85A997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543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9ADFF4-85EC-4197-AABD-5E1A375C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5243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F6E7F0-CC7D-4086-9924-D38E53D5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redundancy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B6B266-61CC-46ED-8F29-CF66FF49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중복 정보가 큰 feature 쌍이 있어 대표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변수만 남기는 전략이 필요했습니다.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71485D-3538-4AA1-9201-A7B154B1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2EC716-F1ED-4C2B-A5E7-5019F4D4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1FEFAF-37CB-4C84-B869-1AF60A4C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B41B08-124B-4D92-A3B5-32040153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4291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DE810D-B309-46BB-8FF2-D7A5C4C2A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5148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1E0D4A-3BB3-467D-82A6-A36BB2DA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6005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42FD54-DD49-4496-A674-A6473347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separability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45A159-469D-41C0-A8CB-849965AF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t_value 분리력은 momentum,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return 계열이 높아 방향성 정보가 강하다는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점을 확인했습니다.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A64BB3-A716-4D02-AB99-95087394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13549656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7B97578-3138-47DD-8761-C05F71E915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bf6fdd58574b26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863679-CEE3-4792-A428-4BFFB619D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3454C7-AD90-47C3-B64A-D685A462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BASELINES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59A402-55ED-4CDF-AA38-9331D7F1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05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A55AD9-E5D6-4D41-8BAB-1DFE27E25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E70E2A-4012-454F-A2A8-C090926A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4E5DA2-495E-4D37-A76C-98F2DD52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Baseline 비교 전략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736823-B43C-4548-BB24-20ED80AE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복잡한 모델보다 먼저 단순 baseline의 trade-off를 확인하고, 운영 친화적인 기준을 찾는 데 집중했습니다.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553B30-7A04-4BCC-A7C4-26AB80ED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E935BF-53CF-4E37-B65C-657CB160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7E6609-37E7-4E35-B3E8-850A0282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71077B-17D1-4514-8BC2-794D461A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624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0A4DC7-F36F-4B9E-B3D3-D8A29F2D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4862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B46564-74D7-4C00-8117-EDC783A0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96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0DE8D9-9FC6-4866-B425-9E31B71C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rolling z-score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D3413B-5DA8-4293-9110-CCEC6633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직전 60분 대비 현재 수익률이 얼마나 이례적인지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계산해 민감한 탐지형 baseline을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만들었습니다.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2A31FF-00D6-4BB8-BB21-A616416E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C70589-6299-49F5-A95F-68EDEF98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1EC598-9F5D-46ED-B5CD-A9D09D5C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02D981-B06C-424F-9B0C-3D73A679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5C9FDD-1C8B-4893-B32B-3224484D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543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EF15DD-68D8-402E-9F63-D888D327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5243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DDC9B5-5A6B-43FF-B53C-B57B663C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EWMA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36E61A-3529-4899-A0D5-6FF17AAA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최근 데이터에 더 빠르게 반응하는 평균과 표준편차를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사용해 상태 변화 대응성을 비교했습니다.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D6764D-D572-4B34-B784-9265A3D4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837C49-64E6-436F-B6C6-89BBB3DD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29A3C4-7997-46FE-A8FB-1E52964B5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AD30BE-1B5A-4A1A-A6DA-36BA1A10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4291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3F384D-06BD-4EDA-A7B1-ED2990D91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5148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6FD959-899F-4832-8623-895AC553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6005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6C16B7-9647-4DCA-9794-F5133BA2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Isolation Forest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C19087-AD45-4B1B-81BF-D1712248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다변량 feature를 활용한 보수형 비지도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이상탐지 모델로 false alarm 절감 가능성을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봤습니다.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2EFD38-565C-4BFF-A291-9A80236F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18117321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7B97578-3138-47DD-8761-C05F71E915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00a00141554921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FAE6AD-DAD7-4D85-9957-E2C514F0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73F7B0-C8D6-4047-A1AD-C0D7FF3E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RULE TUNING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379C7E-2390-43F4-9143-AFD45FB8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06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08A4D9-EF6A-4823-A5F3-7445510F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4F6FDA-BB37-409B-BF8D-DA742D14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EFFCD0-DE05-4837-A512-C42E0E73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Validation에서 rule을 어떻게 골랐나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FCA2F7-D08F-4583-9C4A-DDCE771A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threshold 와 cooldown 조합을 validation에서 비교해 운영 목적에 따라 서로 다른 rule을 분리했습니다.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402563-A431-43DB-B1AC-6E0C4131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21975C-E9AC-4759-BE09-BD423BF2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217E87-8E72-4BD5-BC7D-E978CFCE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0.0075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ABF4D6-3263-4631-8318-175096523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Balanced alert rate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42AB91-FC04-4B65-B7C9-14B830A4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event_f1 과 false alert/day 균형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943BF3-0473-4836-83B5-353AD2E3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A42774-C5DB-4C4F-994B-CDE341B3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4148D1-89A2-4D8B-9639-AB58675D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0.0050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631F2A-DCE4-4D2E-9890-6A815BF7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Conservative alert rate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7B46BC-57EE-45AF-AD50-DE0E4286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더 낮은 경보량 목표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ABC53B-F3FB-4754-B5C8-278A2091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1977FD-1216-41E3-B55F-F59DF3F7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B13A42-0F0D-4A5C-9614-41A56D5F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20분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757A76-D542-4FDF-8B86-03DB0F55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Cooldown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F24001-EE94-4265-A929-AB5F7E0A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같은 이벤트 반복 알람 억제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3604C3-BB67-4055-B60F-047B7DCB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14111459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7B97578-3138-47DD-8761-C05F71E915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83a06570074496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50A975-E12D-4391-AF1E-0E6E25E3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26A528-AE0F-4F80-8D8E-2C28D931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FINAL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B93153-CFFE-4AB4-B3FC-41C115BC5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07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953663-05BC-456A-8D1F-3CC71DC3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9EA6E7-9859-43CD-8D42-4F9F4CB4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82DDDC-274C-4413-9F3E-216ECC41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Test에서 확인한 핵심 개선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8C5B94-271C-44A6-9F96-CB4A068C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balanced rule은 baseline보다 경보 부담을 크게 줄이면서 point 수준 F1도 개선했습니다.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B0C940-F2BD-4E9D-A01C-B6B4E57E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2D28C4-08EC-46E2-96FF-6D0C645B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884E85-FC19-41AB-AA11-104483B0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+0.0187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8F3C51-CB2F-4EB9-81A7-04E4BEC1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Balanced point F1 개선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86CEDF-00C5-42AA-92A3-99BB2E06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0.2323 -&gt; 0.2510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F7CFA2-EC36-4324-93BD-D9921E0B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A4EFAB-A5E4-4CB7-AD39-E6F89AF97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89587D-4E29-4B74-8325-0FA5E0AC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-47.3%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6DED25-D81D-44E3-A299-386C5D0D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Balanced false alerts/day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FDEF79-FE90-4D9B-B114-8610D36D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8.56 -&gt; 4.51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83332D-29AC-4590-B465-BFED84D1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1A7681-2B46-49A1-81BE-07558E7D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19FDB6-1059-4003-A6A2-2E95C7AE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-72.9%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0F6B3E-083D-425D-8056-8AB1C781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Conservative false alerts/day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5FB8FC-B54E-4DBF-A0EB-6AEB411B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8.56 -&gt; 2.32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240DBB-3A84-461E-B242-A633EEC3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17170994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7B97578-3138-47DD-8761-C05F71E915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3dba6011c14ab6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D06D77-A7BF-46A8-90C3-FF7CB8D6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D1B9C1-12BC-43C7-8A4A-3FEDE0078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DAILY OPERATIONS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7CAE07-1C2A-4633-9303-AB05950E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08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0C3137-9B30-450D-874D-D4933AF6A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D88357-9EA0-49DF-9B8F-53F65187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CB1F3D-A124-4AEA-9E3C-39DC9F67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운영 관점에서 본 하루 단위 KPI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12D204-4A71-4337-ADEE-D0AA0E13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일별 집계로 보면 balanced rule이 실제 이벤트 규모와 가장 가까운 경보량을 유지했습니다.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847397-876D-4912-9FF4-5D8500EF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EFA17E-A050-4756-963B-5CBA536A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A153D4-C7D4-46C7-B701-4489A3C6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204일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FD6744-37AF-4FD0-8843-4BF44ECD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Test 운영 기간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D8EAE5-FB52-4F87-8FD2-33AED432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2019-04-14 ~ 2019-11-03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518442-6C83-495D-ADC6-DC44BF11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241782-3606-4C0C-A5D7-ED7BF367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C62E97-0157-4A68-AD70-B723BF08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8.64건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FEF221-75FF-43F5-BE26-CEC0B752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Balanced 일평균 경보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362B7D-15D1-4D41-B552-93374BB73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baseline 14.18건 대비 감소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66FAF3-AC1A-405C-88A4-1ADE90E9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BC61A2-185D-4DA5-86D3-1C5F6D27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585C91-D32C-4523-A3CE-454A50D7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0일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3814B3-65FC-44D8-9E0A-0EA0264C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Balanced missed day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51F8F8-ED6D-4CDA-AAA9-C99C24F4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이벤트가 있던 날 경보 0건 없음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8FD6A7-226C-4576-B9BD-7B6DD794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6495414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7B97578-3138-47DD-8761-C05F71E915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bd285845ee42bf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B86FF7-4582-4C7A-A464-3DCD7D12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5B5647-1C8A-4256-A83F-DD70215B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DOMAIN TRANSLATION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98C8E4-ACA9-4070-8A78-D9D8CA3B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09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5D4FE0-5793-4B50-BD57-B0091924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8966DC-CED7-4CC4-8F8F-87673557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A8005B-1E3D-4F0C-8C7D-7696FE21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반도체 공정 모니터링 언어로 번역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BFBC23-83BA-4854-A505-E0284322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같은 프로젝트도 어떤 언어로 설명하느냐에 따라 포트폴리오의 직무 적합도가 달라집니다.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C4E653-95C5-4364-BEDA-38C45138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43D1B0-A651-42BD-A92C-DD48B626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ECCD92-C9DF-410B-A2ED-CBFA9360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6B6515-B578-43E0-A557-67ED3B0D5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624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418B09-D0EC-4BE2-A2C8-B016456D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4862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36353E-FFD9-4BB4-955A-231AF015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96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37F3EF-2048-4B4E-8F54-A9FAD7BA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이상 이벤트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9FD879-C18E-4FB6-8B1D-08815EDC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급등락과 변동성 spike를 공정 excursion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또는 상태 이상으로 해석할 수 있습니다.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055568-1405-410B-B3C9-4420BFCA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E7BD90-F401-40F8-90EA-5ABAF713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5D123D-FBAD-4588-BD4C-8C3E8D19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FC4B08-59D2-4A18-9E55-9B90E2A6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F3862D-29A3-434C-8BD4-FCD353E6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543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A72498-A715-4E69-BADC-FBCBBE43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5243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68C269-2D5A-4C33-91EB-BD9A0DED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오경보 제어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B063B9-622B-42F5-AAC2-A8F36182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cooldown 과 threshold tuning은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중복 알람 억제와 false alarm 제어 문제로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연결됩니다.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C3352C-C458-46EC-BB72-545BCFE5F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AEFD83-1EA1-4A10-848F-97D1E8F9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B11821-39D1-434F-84DC-A0CD70F2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697289-4054-4486-A4E2-24B2C860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4291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33265F-02B4-4CE6-AA8A-8DB0C2C0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5148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472846-CE89-4CFE-8FFA-933EEB26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6005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1B142F-97C8-424E-802E-192B563B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운영 모드 분리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92ADCC-8C87-4351-AD45-5CFFB860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balanced는 탐지형 기본 운영안,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conservative는 야간 또는 보수 모드로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설명할 수 있습니다.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3CA081-07EF-49AB-B0A6-32F90977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19448925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7B97578-3138-47DD-8761-C05F71E915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5ad542a0a34480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3D75E6-9C0E-4DCC-976A-5CD9BB75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D384E1-CDAA-4436-A602-3213322D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CLOSING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C57126-1C70-4DB1-AE75-51313480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10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CF8BCE-2458-4E75-A5F7-C5B14B38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4203E4-8ED8-4A1E-873E-A1EC5DCD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820387-22FA-4889-8137-9018B8B9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이 프로젝트가 보여주는 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C1202C-FD84-4D70-86F9-562C5EFB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데이터 감사부터 운영 규칙 설계, 직무 언어 번역까지 한 흐름으로 연결한 포트폴리오입니다.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75F4FD-9C67-4F0C-A225-F2E92A9A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918BCF-C61E-4B6B-A5FE-2E9DB7A6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FD64E6-3D87-422C-9777-60C412C9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444BD4-B9F2-4842-8560-56D72D24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624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7298C5-1F67-4463-B502-3C76E8C2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4862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559B13-5699-45C9-9FA4-47C757DB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96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FDB9D9-F273-40B9-8484-F75E0149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분석 역량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886627-AFDA-4379-819E-15FA2CB1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시계열 품질 점검, drift 분석, feature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review, baseline 비교를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end-to-end로 수행했습니다.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BDE764-2F1F-44A3-B621-EBEBDC8E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E050F1-2ECE-4990-8E1C-2ABCF05D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B29978-753F-44E9-99D8-633EE739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45BC0B-A9D0-4E24-8B54-8F6CD0F4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6DAA96-C18A-47BB-BBBE-7ED936779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543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789F4B-C169-46C6-863F-FBA1EA0C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5243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90B131-D39A-4ED6-983A-E8E276FB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운영 역량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7FD78A-AF4E-482F-BE42-DCD0EC5D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validation 기반 rule tuning과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daily monitoring KPI 설계를 통해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실무 적용 가능성을 높였습니다.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03C120-E996-4410-867A-843A6BF7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60158E-B105-4816-B830-0F4B20E2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79426A-D2DA-4327-B045-6921FAA80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1D6661-9BD1-4B6D-BFF9-837593FC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4291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5DBB84-F177-49BE-AF75-EA11483C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5148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9A3339-9E31-4930-9776-1548E3DB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6005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3318E3-9943-4B29-9E58-EA48085B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커뮤니케이션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1EBBDA-A6A1-47DB-89B1-CA717307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금융 데이터를 반도체 공정 모니터링 문제로 번역해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포트폴리오 메시지를 명확히 만들었습니다.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CB6068-2650-4480-8293-4DE380E0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12663718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2026-04-17T16:22:36.6480000Z</dcterms:created>
  <dcterms:modified xsi:type="dcterms:W3CDTF">2026-04-17T16:22:36.6480000Z</dcterms:modified>
</coreProperties>
</file>